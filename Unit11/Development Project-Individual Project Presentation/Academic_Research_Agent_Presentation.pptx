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0" r:id="rId4"/>
    <p:sldId id="271" r:id="rId5"/>
    <p:sldId id="260" r:id="rId6"/>
    <p:sldId id="261" r:id="rId7"/>
    <p:sldId id="262" r:id="rId8"/>
    <p:sldId id="263" r:id="rId9"/>
    <p:sldId id="264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6"/>
    <p:restoredTop sz="96904"/>
  </p:normalViewPr>
  <p:slideViewPr>
    <p:cSldViewPr snapToGrid="0" snapToObjects="1">
      <p:cViewPr varScale="1">
        <p:scale>
          <a:sx n="154" d="100"/>
          <a:sy n="154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97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B262-BE81-3EA8-B341-6E36CD71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DAA2B-F46E-B9F2-0FDE-7ED1CB687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62B31-194B-9B99-6F4D-F573D9907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C5511-8FDD-D5DF-56AE-43A77C7AB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93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DA16-BE47-2D7B-BA98-726772CE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EAF06-EA21-967D-E7BA-DF62ACFE7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AE73D-98C2-76E1-B7C0-9873CB9E1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BA99A-056E-FC2F-BEED-FC6488D84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91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15566-3657-8CEE-08DC-283EA674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BF114-0FAA-B42D-FB80-EC813CFC0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399C9-E5D9-333C-BC5C-95A20501A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FFC89-2EE4-9F78-969A-F24223846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2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5877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Research Agent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32369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bounded, explainable multi-agent workflow</a:t>
            </a:r>
          </a:p>
        </p:txBody>
      </p:sp>
      <p:sp>
        <p:nvSpPr>
          <p:cNvPr id="9" name="Text 6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408" y="1220724"/>
            <a:ext cx="4302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System/design requirements</a:t>
            </a:r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broad research question to traceable academic evidence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5968" y="1718817"/>
            <a:ext cx="5577840" cy="1829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 one high-level academic research goal and plan concrete search tasks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planning, retrieval, processing and storage responsibilities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Retrieve scholarly metadata without requiring paid services or credentials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Preserve DOI/source URL, matched query and workflow decisions for checking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 safely when a model endpoint or network service is unavailable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1924" y="4955310"/>
            <a:ext cx="11103796" cy="46137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quality, design alignment, concept application, critical commentary, README quality and source acknowledgement (University of Essex Online, 2026).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1AC282-5893-66F7-0766-84774E473F16}"/>
              </a:ext>
            </a:extLst>
          </p:cNvPr>
          <p:cNvSpPr txBox="1"/>
          <p:nvPr/>
        </p:nvSpPr>
        <p:spPr>
          <a:xfrm>
            <a:off x="322608" y="4297656"/>
            <a:ext cx="8548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The software is treated as an artefact and evaluated against explicit objectives (Peffers et al., 2007)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06B74C-6731-376C-AB79-2BCD0A4F9DF8}"/>
              </a:ext>
            </a:extLst>
          </p:cNvPr>
          <p:cNvSpPr txBox="1"/>
          <p:nvPr/>
        </p:nvSpPr>
        <p:spPr>
          <a:xfrm>
            <a:off x="526038" y="363081"/>
            <a:ext cx="6149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Unit 11 submission requirements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ECB67B-CC4F-3E1C-9F4C-A75693638D15}"/>
              </a:ext>
            </a:extLst>
          </p:cNvPr>
          <p:cNvSpPr txBox="1"/>
          <p:nvPr/>
        </p:nvSpPr>
        <p:spPr>
          <a:xfrm>
            <a:off x="322608" y="4745736"/>
            <a:ext cx="1941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Assessment focus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4EEFF4-0C97-3ADF-9118-192F2D2539E9}"/>
              </a:ext>
            </a:extLst>
          </p:cNvPr>
          <p:cNvSpPr txBox="1"/>
          <p:nvPr/>
        </p:nvSpPr>
        <p:spPr>
          <a:xfrm>
            <a:off x="322608" y="3910954"/>
            <a:ext cx="2551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Design science perspective</a:t>
            </a:r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M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5B58-57D7-777C-26B0-32005BCE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A9B7A6-B2A1-2B9E-7B97-92E07E5400ED}"/>
              </a:ext>
            </a:extLst>
          </p:cNvPr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From proposal to implementation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4D8959-BA9A-1B31-83E0-121C7196B5A6}"/>
              </a:ext>
            </a:extLst>
          </p:cNvPr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Architectural fidelity with explicit technology substitutions, adapted from the Group C design proposal (Group C, 2026; Peffers et al., 2007)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0644D0-8617-774A-2149-42675DE68088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9AB60F89-F3A7-E750-EBCF-4BD1F7F7AD0A}"/>
              </a:ext>
            </a:extLst>
          </p:cNvPr>
          <p:cNvSpPr/>
          <p:nvPr/>
        </p:nvSpPr>
        <p:spPr>
          <a:xfrm>
            <a:off x="502920" y="65288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Academic Research Agent | Unit 11 Final Assignment</a:t>
            </a:r>
            <a:endParaRPr lang="en-US" sz="7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E957771-6761-E13E-0176-AE15B9AB6C21}"/>
              </a:ext>
            </a:extLst>
          </p:cNvPr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3</a:t>
            </a:r>
            <a:endParaRPr lang="en-US" sz="700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161B7E5-8E0C-3D13-F99D-AAAE1C15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65313"/>
              </p:ext>
            </p:extLst>
          </p:nvPr>
        </p:nvGraphicFramePr>
        <p:xfrm>
          <a:off x="917903" y="1453897"/>
          <a:ext cx="9855199" cy="3206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823">
                  <a:extLst>
                    <a:ext uri="{9D8B030D-6E8A-4147-A177-3AD203B41FA5}">
                      <a16:colId xmlns:a16="http://schemas.microsoft.com/office/drawing/2014/main" val="80464417"/>
                    </a:ext>
                  </a:extLst>
                </a:gridCol>
                <a:gridCol w="6928376">
                  <a:extLst>
                    <a:ext uri="{9D8B030D-6E8A-4147-A177-3AD203B41FA5}">
                      <a16:colId xmlns:a16="http://schemas.microsoft.com/office/drawing/2014/main" val="359974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GB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 proposal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Implemented decision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84185"/>
                  </a:ext>
                </a:extLst>
              </a:tr>
              <a:tr h="14893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GB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Provider-agnostic LLM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GB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 </a:t>
                      </a:r>
                      <a:r>
                        <a:rPr lang="en-GB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Ollama</a:t>
                      </a:r>
                      <a:r>
                        <a:rPr lang="en-GB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planner behind a simple planning interface (Huang et al., 2024)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MT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arXiv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OpenAlex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 and CORE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OpenAlex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 implemented;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arXiv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 and CORE remain extension points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37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Four agents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Four typed specialist components coordinated by the workflow (Wooldridge, 2009; Guo et al., 2024)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LangGraph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Pydantic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, HTTPX, Tenacity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Standard-library protocols,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dataclasses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 and HTTP calls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30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Loop-based refinement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Sufficiency check with a hard maximum of three cycles (Russell and Norvig, 2021)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1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JSON/Markdown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research-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report.md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, research-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report.json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 and workflow-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</a:rPr>
                        <a:t>trace.json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21983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F874086-0129-20E4-4C28-58BEA4D836E4}"/>
              </a:ext>
            </a:extLst>
          </p:cNvPr>
          <p:cNvSpPr txBox="1"/>
          <p:nvPr/>
        </p:nvSpPr>
        <p:spPr>
          <a:xfrm>
            <a:off x="671015" y="5005335"/>
            <a:ext cx="11155680" cy="77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 judgement</a:t>
            </a:r>
            <a:b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The final artefact preserves the proposed architectural boundaries while explicitly documenting framework substitutions and unimplemented connectors.</a:t>
            </a:r>
          </a:p>
        </p:txBody>
      </p:sp>
    </p:spTree>
    <p:extLst>
      <p:ext uri="{BB962C8B-B14F-4D97-AF65-F5344CB8AC3E}">
        <p14:creationId xmlns:p14="http://schemas.microsoft.com/office/powerpoint/2010/main" val="322478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166B-98BB-A57C-3A30-83A05424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6E5F19-CAF9-D118-4FBF-96486E2DBCDA}"/>
              </a:ext>
            </a:extLst>
          </p:cNvPr>
          <p:cNvSpPr/>
          <p:nvPr/>
        </p:nvSpPr>
        <p:spPr>
          <a:xfrm>
            <a:off x="340226" y="29827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System architecture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4113F1-846C-D9BD-374A-D0623A88DEC1}"/>
              </a:ext>
            </a:extLst>
          </p:cNvPr>
          <p:cNvSpPr/>
          <p:nvPr/>
        </p:nvSpPr>
        <p:spPr>
          <a:xfrm>
            <a:off x="329184" y="69494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Bounded workflow autonomy with deterministic specialist stages (Russell and Norvig, 2021; Wooldridge, 2009)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F5FBE8-22EC-0AE2-1A54-50F4BA625DE4}"/>
              </a:ext>
            </a:extLst>
          </p:cNvPr>
          <p:cNvSpPr/>
          <p:nvPr/>
        </p:nvSpPr>
        <p:spPr>
          <a:xfrm>
            <a:off x="320040" y="987552"/>
            <a:ext cx="1156716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C749F6-C99B-7BC7-94FE-FA327EBA9729}"/>
              </a:ext>
            </a:extLst>
          </p:cNvPr>
          <p:cNvSpPr/>
          <p:nvPr/>
        </p:nvSpPr>
        <p:spPr>
          <a:xfrm flipV="1">
            <a:off x="2005979" y="3456351"/>
            <a:ext cx="379476" cy="3679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5F873EE-AA82-FF95-C28A-730F10915CF5}"/>
              </a:ext>
            </a:extLst>
          </p:cNvPr>
          <p:cNvSpPr/>
          <p:nvPr/>
        </p:nvSpPr>
        <p:spPr>
          <a:xfrm>
            <a:off x="4326770" y="3510638"/>
            <a:ext cx="390879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M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A5F3C84-36B6-BF93-F1AD-7EB3EE78A1FB}"/>
              </a:ext>
            </a:extLst>
          </p:cNvPr>
          <p:cNvSpPr/>
          <p:nvPr/>
        </p:nvSpPr>
        <p:spPr>
          <a:xfrm>
            <a:off x="6669419" y="3535337"/>
            <a:ext cx="379476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M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ABABCD0-B64C-6EF0-75F7-38C21449ADAC}"/>
              </a:ext>
            </a:extLst>
          </p:cNvPr>
          <p:cNvSpPr/>
          <p:nvPr/>
        </p:nvSpPr>
        <p:spPr>
          <a:xfrm>
            <a:off x="40019" y="2957424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73BF029-C755-F828-B0B1-08CA0A8A8579}"/>
              </a:ext>
            </a:extLst>
          </p:cNvPr>
          <p:cNvSpPr/>
          <p:nvPr/>
        </p:nvSpPr>
        <p:spPr>
          <a:xfrm>
            <a:off x="128649" y="3001043"/>
            <a:ext cx="1746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Research goal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881AA18-5BB6-B2F2-8509-D6FAF8D6DCE5}"/>
              </a:ext>
            </a:extLst>
          </p:cNvPr>
          <p:cNvSpPr/>
          <p:nvPr/>
        </p:nvSpPr>
        <p:spPr>
          <a:xfrm>
            <a:off x="214234" y="3550684"/>
            <a:ext cx="1766632" cy="4673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provides a high-level academic research goal in natural language.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186B220-66C7-F50E-61DD-BC854B3E6646}"/>
              </a:ext>
            </a:extLst>
          </p:cNvPr>
          <p:cNvSpPr/>
          <p:nvPr/>
        </p:nvSpPr>
        <p:spPr>
          <a:xfrm>
            <a:off x="2362622" y="2966568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0EC3E40-C795-043D-C342-0422A54190B5}"/>
              </a:ext>
            </a:extLst>
          </p:cNvPr>
          <p:cNvSpPr/>
          <p:nvPr/>
        </p:nvSpPr>
        <p:spPr>
          <a:xfrm>
            <a:off x="2545475" y="3003530"/>
            <a:ext cx="1746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Planning agent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E8A8367-838A-A766-7046-5236A28C9C7D}"/>
              </a:ext>
            </a:extLst>
          </p:cNvPr>
          <p:cNvSpPr/>
          <p:nvPr/>
        </p:nvSpPr>
        <p:spPr>
          <a:xfrm>
            <a:off x="2427112" y="3676707"/>
            <a:ext cx="1888217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Generates a search plan and coordinates agent with clear responsibilities.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636A8C9-F4A9-16E2-2AEF-BCDE45CD9C8D}"/>
              </a:ext>
            </a:extLst>
          </p:cNvPr>
          <p:cNvSpPr/>
          <p:nvPr/>
        </p:nvSpPr>
        <p:spPr>
          <a:xfrm>
            <a:off x="4703459" y="2966674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36D09B-FCA4-B8AB-2387-1FA8F57F09CD}"/>
              </a:ext>
            </a:extLst>
          </p:cNvPr>
          <p:cNvSpPr/>
          <p:nvPr/>
        </p:nvSpPr>
        <p:spPr>
          <a:xfrm>
            <a:off x="4866790" y="3036264"/>
            <a:ext cx="1746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Retrieval agent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78F92A-E470-C980-AFF2-6EC0B426F95A}"/>
              </a:ext>
            </a:extLst>
          </p:cNvPr>
          <p:cNvSpPr/>
          <p:nvPr/>
        </p:nvSpPr>
        <p:spPr>
          <a:xfrm>
            <a:off x="4959491" y="3691188"/>
            <a:ext cx="167335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Queries scholarly sources and retrieves metadata.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3801427-8E5D-9A27-0BDC-54AEC2EFE017}"/>
              </a:ext>
            </a:extLst>
          </p:cNvPr>
          <p:cNvSpPr/>
          <p:nvPr/>
        </p:nvSpPr>
        <p:spPr>
          <a:xfrm>
            <a:off x="7050024" y="2979184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A683DBD-458F-A1CD-BC41-66B535A0B946}"/>
              </a:ext>
            </a:extLst>
          </p:cNvPr>
          <p:cNvSpPr/>
          <p:nvPr/>
        </p:nvSpPr>
        <p:spPr>
          <a:xfrm>
            <a:off x="7213592" y="3022904"/>
            <a:ext cx="1746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Processing agent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D664838-5962-F972-3BDD-58A5AA5615F7}"/>
              </a:ext>
            </a:extLst>
          </p:cNvPr>
          <p:cNvSpPr/>
          <p:nvPr/>
        </p:nvSpPr>
        <p:spPr>
          <a:xfrm>
            <a:off x="7314780" y="3633081"/>
            <a:ext cx="167335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Validates, </a:t>
            </a:r>
            <a:r>
              <a:rPr lang="en-US" sz="1200" dirty="0" err="1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normalises</a:t>
            </a: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deduplicates and ranks the retrieved evidence.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B97C921-A614-C84D-21B5-258858F8F219}"/>
              </a:ext>
            </a:extLst>
          </p:cNvPr>
          <p:cNvSpPr/>
          <p:nvPr/>
        </p:nvSpPr>
        <p:spPr>
          <a:xfrm>
            <a:off x="10186021" y="2966568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F137F02-DCE9-2298-031D-27635A28AB7D}"/>
              </a:ext>
            </a:extLst>
          </p:cNvPr>
          <p:cNvSpPr/>
          <p:nvPr/>
        </p:nvSpPr>
        <p:spPr>
          <a:xfrm>
            <a:off x="10330012" y="2996237"/>
            <a:ext cx="17465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Storage agent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15E07E1-89DA-3EA2-2C4D-C19077165D42}"/>
              </a:ext>
            </a:extLst>
          </p:cNvPr>
          <p:cNvSpPr/>
          <p:nvPr/>
        </p:nvSpPr>
        <p:spPr>
          <a:xfrm>
            <a:off x="10384876" y="3685578"/>
            <a:ext cx="167335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structured results with provenance in JSON/Markdown.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D7E93B9-B5DB-E0C2-1768-C7D9B1CB511E}"/>
              </a:ext>
            </a:extLst>
          </p:cNvPr>
          <p:cNvSpPr/>
          <p:nvPr/>
        </p:nvSpPr>
        <p:spPr>
          <a:xfrm>
            <a:off x="4103875" y="1296607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FFF9F2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0CEAFAE-9DC7-E151-F26E-AA43747A3C9B}"/>
              </a:ext>
            </a:extLst>
          </p:cNvPr>
          <p:cNvSpPr/>
          <p:nvPr/>
        </p:nvSpPr>
        <p:spPr>
          <a:xfrm>
            <a:off x="4241035" y="145205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model support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B6EE9AA-0CB1-A1C9-943D-2EE60AE77F3C}"/>
              </a:ext>
            </a:extLst>
          </p:cNvPr>
          <p:cNvSpPr/>
          <p:nvPr/>
        </p:nvSpPr>
        <p:spPr>
          <a:xfrm>
            <a:off x="4359907" y="1716546"/>
            <a:ext cx="2487168" cy="732205"/>
          </a:xfrm>
          <a:prstGeom prst="roundRect">
            <a:avLst>
              <a:gd name="adj" fmla="val 8824"/>
            </a:avLst>
          </a:prstGeom>
          <a:solidFill>
            <a:srgbClr val="FFF3E6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4F0DFEC-B2AC-66CF-03A0-6DD6C99EFE63}"/>
              </a:ext>
            </a:extLst>
          </p:cNvPr>
          <p:cNvSpPr/>
          <p:nvPr/>
        </p:nvSpPr>
        <p:spPr>
          <a:xfrm>
            <a:off x="4460491" y="1713238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6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9A0EEBF-A21D-6FC5-BBE7-8217D4152BC9}"/>
              </a:ext>
            </a:extLst>
          </p:cNvPr>
          <p:cNvSpPr/>
          <p:nvPr/>
        </p:nvSpPr>
        <p:spPr>
          <a:xfrm>
            <a:off x="4486993" y="1988136"/>
            <a:ext cx="2212848" cy="2966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Validated JSON output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(provider-agnostic)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8EE8D66-535A-6DA9-F49E-298255D3E41B}"/>
              </a:ext>
            </a:extLst>
          </p:cNvPr>
          <p:cNvSpPr/>
          <p:nvPr/>
        </p:nvSpPr>
        <p:spPr>
          <a:xfrm>
            <a:off x="3971939" y="4413368"/>
            <a:ext cx="3429000" cy="1094887"/>
          </a:xfrm>
          <a:prstGeom prst="roundRect">
            <a:avLst>
              <a:gd name="adj" fmla="val 4110"/>
            </a:avLst>
          </a:prstGeom>
          <a:solidFill>
            <a:srgbClr val="F6FFFC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9138746-A8E6-9AAE-B10F-E158786AF2DA}"/>
              </a:ext>
            </a:extLst>
          </p:cNvPr>
          <p:cNvSpPr/>
          <p:nvPr/>
        </p:nvSpPr>
        <p:spPr>
          <a:xfrm>
            <a:off x="4109099" y="444075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Scholarly sources (retrieval)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6E76CB5-E622-46AC-70BA-5349494ADC22}"/>
              </a:ext>
            </a:extLst>
          </p:cNvPr>
          <p:cNvSpPr/>
          <p:nvPr/>
        </p:nvSpPr>
        <p:spPr>
          <a:xfrm>
            <a:off x="4154819" y="4824802"/>
            <a:ext cx="960120" cy="658368"/>
          </a:xfrm>
          <a:prstGeom prst="roundRect">
            <a:avLst>
              <a:gd name="adj" fmla="val 8333"/>
            </a:avLst>
          </a:prstGeom>
          <a:solidFill>
            <a:srgbClr val="E7F7F4"/>
          </a:solidFill>
          <a:ln w="12700">
            <a:solidFill>
              <a:srgbClr val="9BD8D1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1DEE5A4-007D-BBFE-411F-D10269F9B2AF}"/>
              </a:ext>
            </a:extLst>
          </p:cNvPr>
          <p:cNvSpPr/>
          <p:nvPr/>
        </p:nvSpPr>
        <p:spPr>
          <a:xfrm>
            <a:off x="4221124" y="4864191"/>
            <a:ext cx="822960" cy="203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OpenAlex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A325BE0-1938-93E1-6D91-1E7D05CF08C4}"/>
              </a:ext>
            </a:extLst>
          </p:cNvPr>
          <p:cNvSpPr/>
          <p:nvPr/>
        </p:nvSpPr>
        <p:spPr>
          <a:xfrm>
            <a:off x="4167480" y="5138159"/>
            <a:ext cx="1029403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live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3D3678D-6F4A-CA37-34AD-21911BE7C693}"/>
              </a:ext>
            </a:extLst>
          </p:cNvPr>
          <p:cNvSpPr/>
          <p:nvPr/>
        </p:nvSpPr>
        <p:spPr>
          <a:xfrm>
            <a:off x="5233811" y="4824802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EA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5A5DC61-BB03-46F0-E47D-03783F381A85}"/>
              </a:ext>
            </a:extLst>
          </p:cNvPr>
          <p:cNvSpPr/>
          <p:nvPr/>
        </p:nvSpPr>
        <p:spPr>
          <a:xfrm>
            <a:off x="5370971" y="485012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4ED5D99-D0B7-9CFB-DA7B-B0F7096076A1}"/>
              </a:ext>
            </a:extLst>
          </p:cNvPr>
          <p:cNvSpPr/>
          <p:nvPr/>
        </p:nvSpPr>
        <p:spPr>
          <a:xfrm>
            <a:off x="5190905" y="5114595"/>
            <a:ext cx="1056131" cy="2792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8715EFF-6B31-3729-B924-D724D939D490}"/>
              </a:ext>
            </a:extLst>
          </p:cNvPr>
          <p:cNvSpPr/>
          <p:nvPr/>
        </p:nvSpPr>
        <p:spPr>
          <a:xfrm>
            <a:off x="6257939" y="4824802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FE0EA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860F6B5-DD17-AE7A-EDAF-DADDFF608FD1}"/>
              </a:ext>
            </a:extLst>
          </p:cNvPr>
          <p:cNvSpPr/>
          <p:nvPr/>
        </p:nvSpPr>
        <p:spPr>
          <a:xfrm>
            <a:off x="6395099" y="4864191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3629627-D402-DBBD-2F3D-2BFF777E01A2}"/>
              </a:ext>
            </a:extLst>
          </p:cNvPr>
          <p:cNvSpPr/>
          <p:nvPr/>
        </p:nvSpPr>
        <p:spPr>
          <a:xfrm>
            <a:off x="6184084" y="5217994"/>
            <a:ext cx="941832" cy="1736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4CB33422-EF6B-8A8D-DA83-DBDE7FF5D4D9}"/>
              </a:ext>
            </a:extLst>
          </p:cNvPr>
          <p:cNvSpPr/>
          <p:nvPr/>
        </p:nvSpPr>
        <p:spPr>
          <a:xfrm>
            <a:off x="3214889" y="5806977"/>
            <a:ext cx="5305002" cy="788727"/>
          </a:xfrm>
          <a:prstGeom prst="roundRect">
            <a:avLst>
              <a:gd name="adj" fmla="val 7317"/>
            </a:avLst>
          </a:prstGeom>
          <a:solidFill>
            <a:srgbClr val="FFF4C8"/>
          </a:solidFill>
          <a:ln w="15240">
            <a:solidFill>
              <a:srgbClr val="D76300"/>
            </a:solidFill>
            <a:prstDash val="solid"/>
          </a:ln>
        </p:spPr>
        <p:txBody>
          <a:bodyPr/>
          <a:lstStyle/>
          <a:p>
            <a:endParaRPr lang="en-M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EF7BDF5-C9F2-416F-7900-5344A0837C53}"/>
              </a:ext>
            </a:extLst>
          </p:cNvPr>
          <p:cNvSpPr/>
          <p:nvPr/>
        </p:nvSpPr>
        <p:spPr>
          <a:xfrm>
            <a:off x="4420704" y="5839080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Refine search – max. 3 cycles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CAFB729-0B5C-DA71-69AE-AB5DC869E158}"/>
              </a:ext>
            </a:extLst>
          </p:cNvPr>
          <p:cNvSpPr/>
          <p:nvPr/>
        </p:nvSpPr>
        <p:spPr>
          <a:xfrm>
            <a:off x="4154819" y="6003231"/>
            <a:ext cx="4379815" cy="506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evidence is insufficient, the workflow returns to the Planning Agent to refine the search, up to a maximum of three cycles</a:t>
            </a: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B571E31F-BD96-6D74-11CE-467186837652}"/>
              </a:ext>
            </a:extLst>
          </p:cNvPr>
          <p:cNvSpPr/>
          <p:nvPr/>
        </p:nvSpPr>
        <p:spPr>
          <a:xfrm>
            <a:off x="1163116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84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Picture 64" descr="Database - Free seo and web icons">
            <a:extLst>
              <a:ext uri="{FF2B5EF4-FFF2-40B4-BE49-F238E27FC236}">
                <a16:creationId xmlns:a16="http://schemas.microsoft.com/office/drawing/2014/main" id="{19A93FFA-1D46-BAB4-CA0D-4A8EFED3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330" y="3229688"/>
            <a:ext cx="325342" cy="32534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74D4834-1F55-5FA5-70B6-61F63A3AC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165" y="3209590"/>
            <a:ext cx="363741" cy="324299"/>
          </a:xfrm>
          <a:prstGeom prst="rect">
            <a:avLst/>
          </a:prstGeom>
        </p:spPr>
      </p:pic>
      <p:pic>
        <p:nvPicPr>
          <p:cNvPr id="67" name="Picture 66" descr="Query - Free networking icons">
            <a:extLst>
              <a:ext uri="{FF2B5EF4-FFF2-40B4-BE49-F238E27FC236}">
                <a16:creationId xmlns:a16="http://schemas.microsoft.com/office/drawing/2014/main" id="{95277947-9766-E275-8D53-CBF30220D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938" y="3260442"/>
            <a:ext cx="314521" cy="314521"/>
          </a:xfrm>
          <a:prstGeom prst="rect">
            <a:avLst/>
          </a:prstGeom>
        </p:spPr>
      </p:pic>
      <p:pic>
        <p:nvPicPr>
          <p:cNvPr id="69" name="Picture 68" descr="What Are AI Agents? What You Need to Know">
            <a:extLst>
              <a:ext uri="{FF2B5EF4-FFF2-40B4-BE49-F238E27FC236}">
                <a16:creationId xmlns:a16="http://schemas.microsoft.com/office/drawing/2014/main" id="{8F834F3F-69F6-DBFB-8078-B1647EBA7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V="1">
            <a:off x="3125190" y="3185581"/>
            <a:ext cx="413620" cy="41197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BB97545-A986-40B9-8DE1-74C13849D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34" y="3199986"/>
            <a:ext cx="454505" cy="28524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9545B60-137E-575D-F2F5-76DCBB41BA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1537" y="5845064"/>
            <a:ext cx="901700" cy="723900"/>
          </a:xfrm>
          <a:prstGeom prst="rect">
            <a:avLst/>
          </a:prstGeom>
        </p:spPr>
      </p:pic>
      <p:sp>
        <p:nvSpPr>
          <p:cNvPr id="13" name="Diamond 12">
            <a:extLst>
              <a:ext uri="{FF2B5EF4-FFF2-40B4-BE49-F238E27FC236}">
                <a16:creationId xmlns:a16="http://schemas.microsoft.com/office/drawing/2014/main" id="{94116540-84D3-954F-CE77-95C5C1D0A8C8}"/>
              </a:ext>
            </a:extLst>
          </p:cNvPr>
          <p:cNvSpPr/>
          <p:nvPr/>
        </p:nvSpPr>
        <p:spPr>
          <a:xfrm>
            <a:off x="8684582" y="1373870"/>
            <a:ext cx="1786191" cy="1472103"/>
          </a:xfrm>
          <a:prstGeom prst="diamond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T" sz="1200" dirty="0"/>
              <a:t>Evidence Sufficient?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CD6B46-1946-C671-B318-0C563E5A92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6346" y="1831548"/>
            <a:ext cx="411480" cy="480060"/>
          </a:xfrm>
          <a:prstGeom prst="rect">
            <a:avLst/>
          </a:prstGeom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3EA2999-EEB6-525C-E803-067AE61CC445}"/>
              </a:ext>
            </a:extLst>
          </p:cNvPr>
          <p:cNvCxnSpPr>
            <a:stCxn id="27" idx="0"/>
            <a:endCxn id="13" idx="1"/>
          </p:cNvCxnSpPr>
          <p:nvPr/>
        </p:nvCxnSpPr>
        <p:spPr>
          <a:xfrm rot="5400000" flipH="1" flipV="1">
            <a:off x="7924162" y="2218764"/>
            <a:ext cx="869262" cy="651578"/>
          </a:xfrm>
          <a:prstGeom prst="bentConnector2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10B8A6D3-0681-80B4-128D-B8A0A99CEC5F}"/>
              </a:ext>
            </a:extLst>
          </p:cNvPr>
          <p:cNvCxnSpPr>
            <a:cxnSpLocks/>
            <a:stCxn id="13" idx="3"/>
            <a:endCxn id="31" idx="0"/>
          </p:cNvCxnSpPr>
          <p:nvPr/>
        </p:nvCxnSpPr>
        <p:spPr>
          <a:xfrm>
            <a:off x="10470773" y="2109922"/>
            <a:ext cx="698228" cy="856646"/>
          </a:xfrm>
          <a:prstGeom prst="bentConnector2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1874661-4AA1-2870-D9A8-B18C0C168F28}"/>
              </a:ext>
            </a:extLst>
          </p:cNvPr>
          <p:cNvCxnSpPr>
            <a:cxnSpLocks/>
          </p:cNvCxnSpPr>
          <p:nvPr/>
        </p:nvCxnSpPr>
        <p:spPr>
          <a:xfrm flipV="1">
            <a:off x="5528876" y="4122184"/>
            <a:ext cx="0" cy="27254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52">
            <a:extLst>
              <a:ext uri="{FF2B5EF4-FFF2-40B4-BE49-F238E27FC236}">
                <a16:creationId xmlns:a16="http://schemas.microsoft.com/office/drawing/2014/main" id="{FBAC2452-2668-B6AC-5F0C-06F941DA2FEB}"/>
              </a:ext>
            </a:extLst>
          </p:cNvPr>
          <p:cNvSpPr/>
          <p:nvPr/>
        </p:nvSpPr>
        <p:spPr>
          <a:xfrm>
            <a:off x="10424123" y="1870362"/>
            <a:ext cx="698228" cy="193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5FE0026-8A41-5957-BD82-EC77BAC011DA}"/>
              </a:ext>
            </a:extLst>
          </p:cNvPr>
          <p:cNvCxnSpPr>
            <a:cxnSpLocks/>
            <a:stCxn id="13" idx="2"/>
            <a:endCxn id="55" idx="3"/>
          </p:cNvCxnSpPr>
          <p:nvPr/>
        </p:nvCxnSpPr>
        <p:spPr>
          <a:xfrm rot="5400000">
            <a:off x="7371101" y="3994764"/>
            <a:ext cx="3355368" cy="1057787"/>
          </a:xfrm>
          <a:prstGeom prst="bentConnector2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52">
            <a:extLst>
              <a:ext uri="{FF2B5EF4-FFF2-40B4-BE49-F238E27FC236}">
                <a16:creationId xmlns:a16="http://schemas.microsoft.com/office/drawing/2014/main" id="{2581C07C-9859-4023-989F-F153BF489D4A}"/>
              </a:ext>
            </a:extLst>
          </p:cNvPr>
          <p:cNvSpPr/>
          <p:nvPr/>
        </p:nvSpPr>
        <p:spPr>
          <a:xfrm>
            <a:off x="9397740" y="2882638"/>
            <a:ext cx="698228" cy="193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7272491B-51DD-D9D7-AFED-C61039A39F9D}"/>
              </a:ext>
            </a:extLst>
          </p:cNvPr>
          <p:cNvCxnSpPr>
            <a:stCxn id="55" idx="1"/>
          </p:cNvCxnSpPr>
          <p:nvPr/>
        </p:nvCxnSpPr>
        <p:spPr>
          <a:xfrm rot="10800000">
            <a:off x="2661921" y="4122185"/>
            <a:ext cx="552969" cy="2079157"/>
          </a:xfrm>
          <a:prstGeom prst="bentConnector2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E2793A79-D7F2-285C-AE34-E5A78EDFD21F}"/>
              </a:ext>
            </a:extLst>
          </p:cNvPr>
          <p:cNvCxnSpPr>
            <a:cxnSpLocks/>
            <a:stCxn id="35" idx="1"/>
            <a:endCxn id="19" idx="0"/>
          </p:cNvCxnSpPr>
          <p:nvPr/>
        </p:nvCxnSpPr>
        <p:spPr>
          <a:xfrm rot="10800000" flipV="1">
            <a:off x="3345603" y="1936686"/>
            <a:ext cx="758273" cy="1029881"/>
          </a:xfrm>
          <a:prstGeom prst="bentConnector2">
            <a:avLst/>
          </a:prstGeom>
          <a:ln w="317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81404BA-F211-95D0-016D-349F91708F3D}"/>
              </a:ext>
            </a:extLst>
          </p:cNvPr>
          <p:cNvSpPr txBox="1"/>
          <p:nvPr/>
        </p:nvSpPr>
        <p:spPr>
          <a:xfrm>
            <a:off x="3507419" y="2535563"/>
            <a:ext cx="4594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dirty="0"/>
              <a:t>LLM-assisted planning with structured output (Huang et al., 2024)</a:t>
            </a:r>
          </a:p>
        </p:txBody>
      </p:sp>
    </p:spTree>
    <p:extLst>
      <p:ext uri="{BB962C8B-B14F-4D97-AF65-F5344CB8AC3E}">
        <p14:creationId xmlns:p14="http://schemas.microsoft.com/office/powerpoint/2010/main" val="229365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Planning and autonomous behaviour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Autonomy is demonstrated at workflow level, not over-claimed for every component (Bandi et al., 2025; Guo et al., 2024)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D9EAF7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137160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Goal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80360" y="1536192"/>
            <a:ext cx="169164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 Plan 2-5 Tasks</a:t>
            </a:r>
          </a:p>
        </p:txBody>
      </p:sp>
      <p:sp>
        <p:nvSpPr>
          <p:cNvPr id="9" name="Shape 7"/>
          <p:cNvSpPr/>
          <p:nvPr/>
        </p:nvSpPr>
        <p:spPr>
          <a:xfrm>
            <a:off x="5074920" y="14630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66360" y="1536192"/>
            <a:ext cx="164592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Execute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0920" y="14630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52360" y="1536192"/>
            <a:ext cx="164592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4. Check</a:t>
            </a: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sufficiency</a:t>
            </a:r>
          </a:p>
        </p:txBody>
      </p:sp>
      <p:sp>
        <p:nvSpPr>
          <p:cNvPr id="13" name="Shape 11"/>
          <p:cNvSpPr/>
          <p:nvPr/>
        </p:nvSpPr>
        <p:spPr>
          <a:xfrm>
            <a:off x="9646920" y="14630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D9EAF7"/>
          </a:solidFill>
          <a:ln w="28575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38360" y="1536192"/>
            <a:ext cx="164592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Stop 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Refine safely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377440" y="1764792"/>
            <a:ext cx="384048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tailEnd type="triangle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1764792"/>
            <a:ext cx="384048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tailEnd type="triangle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49440" y="1764792"/>
            <a:ext cx="384048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tailEnd type="triangle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35440" y="1764792"/>
            <a:ext cx="384048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  <a:tailEnd type="triangle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219704"/>
            <a:ext cx="55930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Ollama output must match a strict JSON task schema (Huang et al., 2024)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Malformed or unavailable model output triggers transparent rule-based planning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 sufficiency is determined by workflow logic rather than by the LLM alone.</a:t>
            </a:r>
          </a:p>
          <a:p>
            <a:pPr marL="171450" indent="-171450"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Retrieval, processing and storage remain deterministic specialist stages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three-cycle limit provides an explicit safeguard against uncontrolled agent looping.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071360" y="3241548"/>
            <a:ext cx="4297680" cy="141732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28575">
            <a:solidFill>
              <a:schemeClr val="bg1"/>
            </a:solidFill>
            <a:prstDash val="solid"/>
          </a:ln>
        </p:spPr>
        <p:txBody>
          <a:bodyPr/>
          <a:lstStyle/>
          <a:p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62800" y="3314700"/>
            <a:ext cx="4861560" cy="907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Bounded workflow autonomy: goal → plan → act → evaluate → output, governed by explicit validation and stop rules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71360" y="5232400"/>
            <a:ext cx="49530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python3 -m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research_agent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"Explainable decisions in autonomous research agents" --offline</a:t>
            </a:r>
          </a:p>
          <a:p>
            <a:pPr>
              <a:lnSpc>
                <a:spcPct val="200000"/>
              </a:lnSpc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D9111E-951D-75D1-D4DB-A3E9FE919133}"/>
              </a:ext>
            </a:extLst>
          </p:cNvPr>
          <p:cNvSpPr txBox="1"/>
          <p:nvPr/>
        </p:nvSpPr>
        <p:spPr>
          <a:xfrm>
            <a:off x="718820" y="2966011"/>
            <a:ext cx="2900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Controls for bounded autonomy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089428-66C0-B237-30CD-FDADBE04C280}"/>
              </a:ext>
            </a:extLst>
          </p:cNvPr>
          <p:cNvSpPr txBox="1"/>
          <p:nvPr/>
        </p:nvSpPr>
        <p:spPr>
          <a:xfrm>
            <a:off x="7010400" y="4887082"/>
            <a:ext cx="391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Execution evidence -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offline reproducible run</a:t>
            </a:r>
            <a:endParaRPr lang="en-MT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25BA6A-5BF5-1DB7-59EB-DAFAEFB83DFA}"/>
              </a:ext>
            </a:extLst>
          </p:cNvPr>
          <p:cNvSpPr txBox="1"/>
          <p:nvPr/>
        </p:nvSpPr>
        <p:spPr>
          <a:xfrm>
            <a:off x="7071360" y="2902308"/>
            <a:ext cx="2998216" cy="40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Defensible autonomy claim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Evidence retrieval and processing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Traceable evidence is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prioritised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over unsupported generated summaries (Lewis et al., 2020)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852160" cy="278891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OpenAlex metadata is mapped into a consistent internal record (OpenAlex, no date)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Every record keeps title, authors, year, DOI/source URL and matched query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DOI or source identity is used to remove duplicate records across search tasks.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Ranking combines keyword overlap with a bounded citation-count signal.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report reproduces retrieved metadata; it does not invent citations (Lewis et al., 2020)</a:t>
            </a:r>
          </a:p>
        </p:txBody>
      </p:sp>
      <p:sp>
        <p:nvSpPr>
          <p:cNvPr id="6" name="Shape 4"/>
          <p:cNvSpPr/>
          <p:nvPr/>
        </p:nvSpPr>
        <p:spPr>
          <a:xfrm>
            <a:off x="6949440" y="1417320"/>
            <a:ext cx="4709160" cy="594360"/>
          </a:xfrm>
          <a:prstGeom prst="roundRect">
            <a:avLst>
              <a:gd name="adj" fmla="val 923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0" y="1490472"/>
            <a:ext cx="384048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deterministic ranking?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949440" y="2240279"/>
            <a:ext cx="4709160" cy="937764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inputs produce same ranking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49440" y="3349755"/>
            <a:ext cx="4709160" cy="100177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Inspectable</a:t>
            </a:r>
          </a:p>
          <a:p>
            <a:pPr>
              <a:lnSpc>
                <a:spcPct val="20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 reviewer can see why a record scored higher</a:t>
            </a:r>
          </a:p>
          <a:p>
            <a:pPr>
              <a:lnSpc>
                <a:spcPct val="200000"/>
              </a:lnSpc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0" y="4523237"/>
            <a:ext cx="4709160" cy="960117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and deduplication can be asserted automatically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87752" y="4505957"/>
            <a:ext cx="4453128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49440" y="5619496"/>
            <a:ext cx="4709160" cy="909320"/>
          </a:xfrm>
          <a:prstGeom prst="roundRect">
            <a:avLst>
              <a:gd name="adj" fmla="val 8571"/>
            </a:avLst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Lexical relevance does not provide full semantic understanding.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Explainability and responsible design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Validation is necessary, but not sufficient, for trustworthy agent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(NIST, 2024; OWASP Foundation, 2025)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5486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workflow-trace.json records plans, searches, failures, counts and stop decisions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Provenance supports human checking before evidence is used academically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 credentials, secrets or user research data are stored by the workflow.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Human oversight remains necessary for relevance, source quality and claim support</a:t>
            </a:r>
          </a:p>
        </p:txBody>
      </p:sp>
      <p:sp>
        <p:nvSpPr>
          <p:cNvPr id="7" name="Text 5"/>
          <p:cNvSpPr/>
          <p:nvPr/>
        </p:nvSpPr>
        <p:spPr>
          <a:xfrm>
            <a:off x="4846320" y="1700784"/>
            <a:ext cx="1874520" cy="4480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675120" y="2121408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JSON schema validation detects malformed mdel output.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4666488"/>
            <a:ext cx="187452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>
              <a:lnSpc>
                <a:spcPct val="200000"/>
              </a:lnSpc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1417320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002060"/>
          </a:solidFill>
          <a:ln w="12700">
            <a:solidFill>
              <a:srgbClr val="B91C1C"/>
            </a:solidFill>
            <a:prstDash val="solid"/>
          </a:ln>
        </p:spPr>
        <p:txBody>
          <a:bodyPr anchor="b"/>
          <a:lstStyle/>
          <a:p>
            <a:pPr algn="ctr"/>
            <a:endParaRPr lang="en-GB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risk</a:t>
            </a:r>
          </a:p>
          <a:p>
            <a:endParaRPr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52560" y="2121408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 malicious instruction may still produce structurally valid JSON.</a:t>
            </a:r>
          </a:p>
          <a:p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77640" y="3991355"/>
            <a:ext cx="1874520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3493008"/>
            <a:ext cx="5297424" cy="1664208"/>
          </a:xfrm>
          <a:prstGeom prst="roundRect">
            <a:avLst>
              <a:gd name="adj" fmla="val 4878"/>
            </a:avLst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framing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NIST treats prompt injection and data poisoning as information-security risks for GAI systems. OWASP likewise frames prompt injection as a major LLM application risk.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23160" y="3616451"/>
            <a:ext cx="4251960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5449822"/>
            <a:ext cx="5394960" cy="1124699"/>
          </a:xfrm>
          <a:prstGeom prst="roundRect">
            <a:avLst>
              <a:gd name="adj" fmla="val 7317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1F2937"/>
                </a:solidFill>
              </a:rPr>
              <a:t>Control implication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Use trusted retrieval sources, constrained tool access, provenance logs, failure traces and human review.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7</a:t>
            </a:r>
            <a:endParaRPr lang="en-US" sz="7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21F9676-6FB3-F14C-A509-EC6A9F0EBDB0}"/>
              </a:ext>
            </a:extLst>
          </p:cNvPr>
          <p:cNvSpPr/>
          <p:nvPr/>
        </p:nvSpPr>
        <p:spPr>
          <a:xfrm>
            <a:off x="6629400" y="1419605"/>
            <a:ext cx="2057400" cy="594360"/>
          </a:xfrm>
          <a:prstGeom prst="roundRect">
            <a:avLst>
              <a:gd name="adj" fmla="val 9231"/>
            </a:avLst>
          </a:prstGeom>
          <a:solidFill>
            <a:srgbClr val="00206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control </a:t>
            </a:r>
            <a:endParaRPr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Testing and evaluation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Software correctness is demonstrated; real-world retrieval quality remains bounded (Sami et al., 2024; Bandi et al., 2025)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399032"/>
            <a:ext cx="274320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tests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788664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8/8-unit, workflow and functional tests passed successfully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 validation, schema handling and fallback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 removal and ranking order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Cycle bound and output persistence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 entry point and generation of exactly three expected output files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92040" y="1325880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002060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83480" y="1399032"/>
            <a:ext cx="28803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Retrieval ranking evaluation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17592" y="2057400"/>
            <a:ext cx="30632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labelled fixture queries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Precision@1 = 1.0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Precision@3 = 0.5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nDCG@3 = 1.0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only claims about the synthetic fixture, not real-world retrieval quality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49640" y="132588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002060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41080" y="1399032"/>
            <a:ext cx="24231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 benchmark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41080" y="2057400"/>
            <a:ext cx="26060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171450" indent="-1714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10 iterations per mode</a:t>
            </a:r>
          </a:p>
          <a:p>
            <a:pPr marL="171450" indent="-1714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Rule-based planning and mocked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outputs: 10/10 schema-valid.</a:t>
            </a:r>
          </a:p>
          <a:p>
            <a:pPr marL="171450" indent="-1714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Malformed or unavailable model conditions: fallback activated 10/10 times</a:t>
            </a:r>
          </a:p>
          <a:p>
            <a:pPr marL="171450" indent="-1714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Not a real Qwen/Mistral/Llama quality benchmark</a:t>
            </a:r>
          </a:p>
        </p:txBody>
      </p:sp>
      <p:sp>
        <p:nvSpPr>
          <p:cNvPr id="16" name="Text 13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Demonstration evidence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Reproducible artefacts generated by the implementation (Peffers et al., 2007)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9264" y="1563624"/>
            <a:ext cx="2346960" cy="749808"/>
          </a:xfrm>
          <a:prstGeom prst="roundRect">
            <a:avLst>
              <a:gd name="adj" fmla="val 7317"/>
            </a:avLst>
          </a:prstGeom>
          <a:solidFill>
            <a:srgbClr val="D9EAF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Offline demonstration run</a:t>
            </a:r>
          </a:p>
          <a:p>
            <a:pPr>
              <a:lnSpc>
                <a:spcPct val="200000"/>
              </a:lnSpc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3 evidence records retained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4504" y="3098923"/>
            <a:ext cx="4663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1. Explainable planning for autonomous research agents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2. Risks and limitations of language-model research assistants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3. Evaluating evidence retrieval in multi-agent systems</a:t>
            </a:r>
          </a:p>
        </p:txBody>
      </p:sp>
      <p:sp>
        <p:nvSpPr>
          <p:cNvPr id="8" name="Shape 6"/>
          <p:cNvSpPr/>
          <p:nvPr/>
        </p:nvSpPr>
        <p:spPr>
          <a:xfrm>
            <a:off x="6286500" y="1371600"/>
            <a:ext cx="4930140" cy="566928"/>
          </a:xfrm>
          <a:prstGeom prst="roundRect">
            <a:avLst>
              <a:gd name="adj" fmla="val 9677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1444752"/>
            <a:ext cx="39776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outputs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86500" y="2148840"/>
            <a:ext cx="4920996" cy="1046984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research-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report.md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Human-readable ranked evidence report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86500" y="3589016"/>
            <a:ext cx="4930140" cy="9875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research-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report.json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Machine-readable structured evidence records</a:t>
            </a:r>
          </a:p>
          <a:p>
            <a:pPr>
              <a:lnSpc>
                <a:spcPct val="200000"/>
              </a:lnSpc>
            </a:pP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89548" y="4690872"/>
            <a:ext cx="4927092" cy="886968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workflow-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trace.json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Plans, searches, failures, evidence counts and stopping decisions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86500" y="5728720"/>
            <a:ext cx="4927092" cy="850382"/>
          </a:xfrm>
          <a:prstGeom prst="roundRect">
            <a:avLst>
              <a:gd name="adj" fmla="val 8571"/>
            </a:avLst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pPr algn="ctr">
              <a:lnSpc>
                <a:spcPct val="200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Evaluation artefacts</a:t>
            </a:r>
          </a:p>
          <a:p>
            <a:pPr algn="ctr">
              <a:lnSpc>
                <a:spcPct val="20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retrieval-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evaluation.md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planner-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benchmark.md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4690872"/>
            <a:ext cx="39776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153C8-02F5-1577-8237-36E1D4046138}"/>
              </a:ext>
            </a:extLst>
          </p:cNvPr>
          <p:cNvSpPr txBox="1"/>
          <p:nvPr/>
        </p:nvSpPr>
        <p:spPr>
          <a:xfrm>
            <a:off x="822960" y="2768846"/>
            <a:ext cx="28834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T" sz="1200" b="1" dirty="0">
                <a:latin typeface="Arial" panose="020B0604020202020204" pitchFamily="34" charset="0"/>
                <a:cs typeface="Arial" panose="020B0604020202020204" pitchFamily="34" charset="0"/>
              </a:rPr>
              <a:t>Retained evidence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D104-F38F-5020-6B98-F00F2B92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AC3A4E-2FBA-AFCB-5ED3-214ED3E173DD}"/>
              </a:ext>
            </a:extLst>
          </p:cNvPr>
          <p:cNvSpPr/>
          <p:nvPr/>
        </p:nvSpPr>
        <p:spPr>
          <a:xfrm>
            <a:off x="502920" y="3200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Critical evaluation of the implemented artefact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4BAB0B-D6AE-E71A-7507-B15706507542}"/>
              </a:ext>
            </a:extLst>
          </p:cNvPr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  <a:t>Architectural fidelity with explicit technology substitutions, adapted from the Group C design proposal (Group C, 2026; Peffers et al., 2007)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8AF960-59F7-3165-DC72-CB11A419C953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EC74A2A-1C70-EE33-9870-96E7BEC40F2B}"/>
              </a:ext>
            </a:extLst>
          </p:cNvPr>
          <p:cNvSpPr/>
          <p:nvPr/>
        </p:nvSpPr>
        <p:spPr>
          <a:xfrm>
            <a:off x="1147572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3</a:t>
            </a:r>
            <a:endParaRPr lang="en-US" sz="700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F76D516-CA65-986E-E0A7-FF7FE799F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41044"/>
              </p:ext>
            </p:extLst>
          </p:nvPr>
        </p:nvGraphicFramePr>
        <p:xfrm>
          <a:off x="917903" y="1453897"/>
          <a:ext cx="9855199" cy="2790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9297">
                  <a:extLst>
                    <a:ext uri="{9D8B030D-6E8A-4147-A177-3AD203B41FA5}">
                      <a16:colId xmlns:a16="http://schemas.microsoft.com/office/drawing/2014/main" val="80464417"/>
                    </a:ext>
                  </a:extLst>
                </a:gridCol>
                <a:gridCol w="5235902">
                  <a:extLst>
                    <a:ext uri="{9D8B030D-6E8A-4147-A177-3AD203B41FA5}">
                      <a16:colId xmlns:a16="http://schemas.microsoft.com/office/drawing/2014/main" val="3599747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GB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 established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 not established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84185"/>
                  </a:ext>
                </a:extLst>
              </a:tr>
              <a:tr h="1489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MT" sz="1200" dirty="0"/>
                        <a:t>8/8 software tests passed; expected output files are generated consistently</a:t>
                      </a:r>
                      <a:endParaRPr lang="en-GB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MT" sz="1200" dirty="0"/>
                        <a:t>No large labelled dataset or live retrieval-quality benchmark was used</a:t>
                      </a:r>
                      <a:endParaRPr lang="en-MT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7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Planner schema validation and fallback </a:t>
                      </a:r>
                      <a:r>
                        <a:rPr lang="en-US" sz="1200" dirty="0" err="1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behaviour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operate repeatably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T" sz="1200" dirty="0"/>
                        <a:t>No evidence that qwen3:4b outperforms Mistral, Llama or hosted models</a:t>
                      </a:r>
                      <a:endParaRPr lang="en-US" sz="1200" dirty="0">
                        <a:solidFill>
                          <a:srgbClr val="1F2937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37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 traces, source URLs and matched queries support human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MT" sz="1200" dirty="0"/>
                        <a:t>No guarantee that OpenAlex provides complete coverage for every topic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3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three-cycle limit constrains uncontrolled retrieval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Prompt injection is reduced by controls, not eliminated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30282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EEB3C7C3-6FF2-B8F7-1687-68463FBBEA3C}"/>
              </a:ext>
            </a:extLst>
          </p:cNvPr>
          <p:cNvSpPr txBox="1"/>
          <p:nvPr/>
        </p:nvSpPr>
        <p:spPr>
          <a:xfrm>
            <a:off x="690558" y="4558803"/>
            <a:ext cx="11155680" cy="1887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br>
              <a:rPr lang="en-MT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rgbClr val="1F2937"/>
                </a:solidFill>
              </a:rPr>
              <a:t>Conclusion</a:t>
            </a:r>
            <a:endParaRPr lang="en-US" sz="1200" b="1" dirty="0"/>
          </a:p>
          <a:p>
            <a:pPr>
              <a:lnSpc>
                <a:spcPct val="200000"/>
              </a:lnSpc>
            </a:pPr>
            <a:r>
              <a:rPr lang="en-MT" sz="1200" dirty="0"/>
              <a:t>The artefact demonstrates a bounded goal → plan → act → evaluate → output research workflow with provenance, explicit controls and human oversight. Its strongest defensible claims concern software correctness, reproducibility and transparent evidence handling rather than complete literature-review quality or superior model performance.</a:t>
            </a:r>
            <a:endParaRPr lang="en-M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11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1301</Words>
  <Application>Microsoft Macintosh PowerPoint</Application>
  <PresentationFormat>Widescreen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Essex 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Research Agent</dc:title>
  <dc:subject>Academic Research Agent - Evidence Enhanced</dc:subject>
  <dc:creator>Imoh Etuk</dc:creator>
  <cp:lastModifiedBy>Imoh Etuk</cp:lastModifiedBy>
  <cp:revision>11</cp:revision>
  <dcterms:created xsi:type="dcterms:W3CDTF">2026-10-02T15:47:28Z</dcterms:created>
  <dcterms:modified xsi:type="dcterms:W3CDTF">2026-10-10T05:58:16Z</dcterms:modified>
</cp:coreProperties>
</file>