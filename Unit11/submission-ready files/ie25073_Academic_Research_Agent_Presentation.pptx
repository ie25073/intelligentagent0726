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Academic Research Agent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bounded, explainable multi-agent workflow</a:t>
            </a:r>
            <a:br/>
            <a:br/>
            <a:r>
              <a:rPr/>
              <a:t>Imoh Etuk | ie25073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September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and design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Goal: turn a research question into ranked, traceable scholarly evidence</a:t>
            </a:r>
          </a:p>
          <a:p>
            <a:pPr lvl="0"/>
            <a:r>
              <a:rPr/>
              <a:t>Plan autonomous actions from one high-level user goal</a:t>
            </a:r>
          </a:p>
          <a:p>
            <a:pPr lvl="0"/>
            <a:r>
              <a:rPr/>
              <a:t>Separate planning, retrieval, processing and storage responsibilities</a:t>
            </a:r>
          </a:p>
          <a:p>
            <a:pPr lvl="0"/>
            <a:r>
              <a:rPr/>
              <a:t>Preserve source provenance and expose workflow decisions</a:t>
            </a:r>
          </a:p>
          <a:p>
            <a:pPr lvl="0"/>
            <a:r>
              <a:rPr/>
              <a:t>Remain usable without paid services or credentials</a:t>
            </a:r>
          </a:p>
          <a:p>
            <a:pPr lvl="0"/>
            <a:r>
              <a:rPr/>
              <a:t>Bound retries and fail safely when a model or network is unavailable</a:t>
            </a:r>
          </a:p>
          <a:p>
            <a:pPr lvl="0"/>
            <a:r>
              <a:rPr/>
              <a:t>Design Science frames the artefact and its evaluation (Peffers </a:t>
            </a:r>
            <a:r>
              <a:rPr i="1"/>
              <a:t>et al.</a:t>
            </a:r>
            <a:r>
              <a:rPr/>
              <a:t>, 2007)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proposal to implementation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decision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Provider-agnostic LLM layer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Optional Ollama planner plus deterministic fallback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arXiv, OpenAlex and CORE connectors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OpenAlex implemented; other connectors remain future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Multi-agent responsibilities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Four typed components with explicit hand-offs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LangGraph, Pydantic, HTTPX, Tenacity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Standard-library protocols and typed dataclasses minimise dependencies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Lightweight journal/output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report, JSON evidence and JSON trace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Iterative retrieval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Sufficiency check with a maximum of three cycles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Research goal
     |
Planning agent ---- Ollama API (optional)
     |
Retrieval agent --- OpenAlex / offline fixture
     |
Processing agent -- normalise, deduplicate, rank
     |                    |
     +-- insufficient ---+  maximum 3 cycles
     |
Storage agent ----- report.md + evidence.json + trace.json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 and autonomous behaviour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planner converts one goal into two to five bounded search tasks</a:t>
            </a:r>
          </a:p>
          <a:p>
            <a:pPr lvl="0"/>
            <a:r>
              <a:rPr/>
              <a:t>Ollama output must match a validated JSON schema</a:t>
            </a:r>
          </a:p>
          <a:p>
            <a:pPr lvl="0"/>
            <a:r>
              <a:rPr/>
              <a:t>Invalid or unavailable model output triggers a transparent rule-based plan</a:t>
            </a:r>
          </a:p>
          <a:p>
            <a:pPr lvl="0"/>
            <a:r>
              <a:rPr/>
              <a:t>The workflow executes tasks, evaluates evidence sufficiency and may refine</a:t>
            </a:r>
          </a:p>
          <a:p>
            <a:pPr lvl="0"/>
            <a:r>
              <a:rPr/>
              <a:t>A cycle limit acts as a kill switch against uncontrolled agent loops</a:t>
            </a:r>
          </a:p>
          <a:p>
            <a:pPr lvl="0"/>
            <a:r>
              <a:rPr/>
              <a:t>Autonomy is bounded at workflow level; deterministic specialists are not independent goal-seeking agents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research_agent </a:t>
            </a:r>
            <a:r>
              <a:rPr>
                <a:solidFill>
                  <a:srgbClr val="4070A0"/>
                </a:solidFill>
                <a:latin typeface="Courier"/>
              </a:rPr>
              <a:t>"Explainable decisions in autonomous research agents"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--offline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Evidence retrieval and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OpenAlex returns scholarly metadata and reconstructed abstract text</a:t>
            </a:r>
          </a:p>
          <a:p>
            <a:pPr lvl="0"/>
            <a:r>
              <a:rPr/>
              <a:t>Every record retains authors, year, DOI/source URL and matched query</a:t>
            </a:r>
          </a:p>
          <a:p>
            <a:pPr lvl="0"/>
            <a:r>
              <a:rPr/>
              <a:t>DOI or source identity removes duplicates across search tasks</a:t>
            </a:r>
          </a:p>
          <a:p>
            <a:pPr lvl="0"/>
            <a:r>
              <a:rPr/>
              <a:t>Ranking combines inspectable keyword overlap with bounded citation evidence</a:t>
            </a:r>
          </a:p>
          <a:p>
            <a:pPr lvl="0"/>
            <a:r>
              <a:rPr/>
              <a:t>The report reproduces retrieved metadata; it does not invent citations</a:t>
            </a:r>
          </a:p>
          <a:p>
            <a:pPr lvl="0" indent="0" marL="0">
              <a:buNone/>
            </a:pPr>
            <a:r>
              <a:rPr b="1"/>
              <a:t>Why deterministic ranking?</a:t>
            </a:r>
            <a:r>
              <a:rPr/>
              <a:t> Safety-critical evidence selection remains repeatable and testable even when an LLM proposes the search plan.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Explainability and responsible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workflow-trace.json</a:t>
            </a:r>
            <a:r>
              <a:rPr/>
              <a:t> records plans, searches, counts, failures and stop decisions</a:t>
            </a:r>
          </a:p>
          <a:p>
            <a:pPr lvl="0"/>
            <a:r>
              <a:rPr/>
              <a:t>Provenance supports human checking before evidence is used in academic work</a:t>
            </a:r>
          </a:p>
          <a:p>
            <a:pPr lvl="0"/>
            <a:r>
              <a:rPr/>
              <a:t>No credentials, personal data or fabricated bibliography are stored</a:t>
            </a:r>
          </a:p>
          <a:p>
            <a:pPr lvl="0"/>
            <a:r>
              <a:rPr/>
              <a:t>Human oversight remains necessary for relevance, source quality and claim support</a:t>
            </a:r>
          </a:p>
          <a:p>
            <a:pPr lvl="0"/>
            <a:r>
              <a:rPr/>
              <a:t>Risks remain: coverage gaps, missing abstracts and citation-age bias</a:t>
            </a:r>
          </a:p>
          <a:p>
            <a:pPr lvl="0"/>
            <a:r>
              <a:rPr/>
              <a:t>Schema validation reduces malformed output risk but is not a complete prompt-injection defence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strategy and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Eight automated unit, workflow and functional tests passed on Python 3.13.7</a:t>
            </a:r>
          </a:p>
          <a:p>
            <a:pPr lvl="0"/>
            <a:r>
              <a:rPr/>
              <a:t>Planner tests: validation, bounded tasks, model schema and fallback</a:t>
            </a:r>
          </a:p>
          <a:p>
            <a:pPr lvl="0"/>
            <a:r>
              <a:rPr/>
              <a:t>Processor test: duplicate removal and ranking order</a:t>
            </a:r>
          </a:p>
          <a:p>
            <a:pPr lvl="0"/>
            <a:r>
              <a:rPr/>
              <a:t>Workflow tests: persisted outputs, sufficiency decision and cycle bound</a:t>
            </a:r>
          </a:p>
          <a:p>
            <a:pPr lvl="0"/>
            <a:r>
              <a:rPr/>
              <a:t>CLI test: executable entry point and all three generated outputs</a:t>
            </a:r>
          </a:p>
          <a:p>
            <a:pPr lvl="0"/>
            <a:r>
              <a:rPr/>
              <a:t>Offline fixture makes regression tests independent of network and model availability</a:t>
            </a:r>
          </a:p>
          <a:p>
            <a:pPr lvl="0" indent="0" marL="0">
              <a:buNone/>
            </a:pPr>
            <a:r>
              <a:rPr b="1"/>
              <a:t>Pass criteria:</a:t>
            </a:r>
            <a:r>
              <a:rPr/>
              <a:t> 2-5 valid tasks; no more than 3 cycles; deterministic fallback; duplicate suppression; exactly 3 output files.</a:t>
            </a:r>
          </a:p>
          <a:p>
            <a:pPr lvl="0" indent="0">
              <a:buNone/>
            </a:pPr>
            <a:r>
              <a:rPr>
                <a:latin typeface="Courier"/>
              </a:rPr>
              <a:t>Ran 8 tests
OK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Demonstration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Offline run:</a:t>
            </a:r>
            <a:r>
              <a:rPr/>
              <a:t> 3 evidence records retained</a:t>
            </a:r>
          </a:p>
          <a:p>
            <a:pPr lvl="0" indent="-342900" marL="342900">
              <a:buAutoNum type="arabicPeriod"/>
            </a:pPr>
            <a:r>
              <a:rPr/>
              <a:t>Explainable planning for autonomous research agents</a:t>
            </a:r>
          </a:p>
          <a:p>
            <a:pPr lvl="0" indent="-342900" marL="342900">
              <a:buAutoNum type="arabicPeriod"/>
            </a:pPr>
            <a:r>
              <a:rPr/>
              <a:t>Risks and limitations of language-model research assistants</a:t>
            </a:r>
          </a:p>
          <a:p>
            <a:pPr lvl="0" indent="-342900" marL="342900">
              <a:buAutoNum type="arabicPeriod"/>
            </a:pPr>
            <a:r>
              <a:rPr/>
              <a:t>Evaluating evidence retrieval in multi-agent systems</a:t>
            </a:r>
          </a:p>
          <a:p>
            <a:pPr lvl="0" indent="0" marL="0">
              <a:buNone/>
            </a:pPr>
            <a:r>
              <a:rPr/>
              <a:t>Generated artefacts:</a:t>
            </a:r>
          </a:p>
          <a:p>
            <a:pPr lvl="0"/>
            <a:r>
              <a:rPr/>
              <a:t>Human-readable ranked research report</a:t>
            </a:r>
          </a:p>
          <a:p>
            <a:pPr lvl="0"/>
            <a:r>
              <a:rPr/>
              <a:t>Machine-readable evidence record</a:t>
            </a:r>
          </a:p>
          <a:p>
            <a:pPr lvl="0"/>
            <a:r>
              <a:rPr/>
              <a:t>Inspectable workflow trace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evaluation and next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Strengths:</a:t>
                </a:r>
                <a:r>
                  <a:rPr/>
                  <a:t> modular, reproducible, traceable and bounded.</a:t>
                </a:r>
              </a:p>
              <a:p>
                <a:pPr lvl="0" indent="0" marL="0">
                  <a:buNone/>
                </a:pPr>
                <a:r>
                  <a:rPr b="1"/>
                  <a:t>Limits:</a:t>
                </a:r>
                <a:r>
                  <a:rPr/>
                  <a:t> lexical ranking, age-biased citations, OpenAlex only, synthetic fixture and no model/user benchmark.</a:t>
                </a:r>
              </a:p>
              <a:p>
                <a:pPr lvl="0" indent="0" marL="0">
                  <a:buNone/>
                </a:pPr>
                <a:r>
                  <a:rPr b="1"/>
                  <a:t>Feedback-led evaluation:</a:t>
                </a:r>
              </a:p>
              <a:p>
                <a:pPr lvl="0"/>
                <a:r>
                  <a:rPr/>
                  <a:t>Labelled queries: P@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nDCG@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DOI/source validity and abstention</a:t>
                </a:r>
              </a:p>
              <a:p>
                <a:pPr lvl="0"/>
                <a:r>
                  <a:rPr/>
                  <a:t>Models: p50/p95 latency, memory, tokens and cost</a:t>
                </a:r>
              </a:p>
              <a:p>
                <a:pPr lvl="0" indent="0" marL="0">
                  <a:buNone/>
                </a:pPr>
                <a:r>
                  <a:rPr b="1"/>
                  <a:t>Conclusion:</a:t>
                </a:r>
                <a:r>
                  <a:rPr/>
                  <a:t> goal-plan-act-output with human oversight.</a:t>
                </a:r>
              </a:p>
              <a:p>
                <a:pPr lvl="0" indent="0" marL="0">
                  <a:buNone/>
                </a:pPr>
                <a:r>
                  <a:rPr b="1"/>
                  <a:t>Sources:</a:t>
                </a:r>
                <a:r>
                  <a:rPr/>
                  <a:t> Peffers </a:t>
                </a:r>
                <a:r>
                  <a:rPr i="1"/>
                  <a:t>et al.</a:t>
                </a:r>
                <a:r>
                  <a:rPr/>
                  <a:t> (2007); Lewis </a:t>
                </a:r>
                <a:r>
                  <a:rPr i="1"/>
                  <a:t>et al.</a:t>
                </a:r>
                <a:r>
                  <a:rPr/>
                  <a:t> (2020); Russell and Norvig (2021); Bandi </a:t>
                </a:r>
                <a:r>
                  <a:rPr i="1"/>
                  <a:t>et al.</a:t>
                </a:r>
                <a:r>
                  <a:rPr/>
                  <a:t> (2025). Full references: transcript/README.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Research Agent</dc:title>
  <dc:creator>Imoh Etuk | ie25073</dc:creator>
  <cp:keywords/>
  <dcterms:created xsi:type="dcterms:W3CDTF">2026-10-02T15:07:34Z</dcterms:created>
  <dcterms:modified xsi:type="dcterms:W3CDTF">2026-10-02T15:07:34Z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30 September 2026</vt:lpwstr>
  </property>
  <property fmtid="{D5CDD505-2E9C-101B-9397-08002B2CF9AE}" pid="3" name="subtitle">
    <vt:lpwstr>A bounded, explainable multi-agent workflow</vt:lpwstr>
  </property>
</Properties>
</file>